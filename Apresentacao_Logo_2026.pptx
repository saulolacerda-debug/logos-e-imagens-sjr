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6C44"/>
    <a:srgbClr val="4051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21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9C562-8E3A-4730-B6FC-224C715ACFFE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C2B0-7C96-4D13-B7FF-B55C4EF325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8012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9C562-8E3A-4730-B6FC-224C715ACFFE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C2B0-7C96-4D13-B7FF-B55C4EF325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583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9C562-8E3A-4730-B6FC-224C715ACFFE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C2B0-7C96-4D13-B7FF-B55C4EF325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9163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9C562-8E3A-4730-B6FC-224C715ACFFE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C2B0-7C96-4D13-B7FF-B55C4EF325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4841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9C562-8E3A-4730-B6FC-224C715ACFFE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C2B0-7C96-4D13-B7FF-B55C4EF325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0730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9C562-8E3A-4730-B6FC-224C715ACFFE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C2B0-7C96-4D13-B7FF-B55C4EF325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0472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9C562-8E3A-4730-B6FC-224C715ACFFE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C2B0-7C96-4D13-B7FF-B55C4EF325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8394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9C562-8E3A-4730-B6FC-224C715ACFFE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C2B0-7C96-4D13-B7FF-B55C4EF325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325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9C562-8E3A-4730-B6FC-224C715ACFFE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C2B0-7C96-4D13-B7FF-B55C4EF325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0347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9C562-8E3A-4730-B6FC-224C715ACFFE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C2B0-7C96-4D13-B7FF-B55C4EF325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3813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9C562-8E3A-4730-B6FC-224C715ACFFE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C2B0-7C96-4D13-B7FF-B55C4EF325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2109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49C562-8E3A-4730-B6FC-224C715ACFFE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7C2B0-7C96-4D13-B7FF-B55C4EF325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5200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9733" y="2520086"/>
            <a:ext cx="1532534" cy="181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116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387273" y="1550406"/>
            <a:ext cx="6606308" cy="761711"/>
          </a:xfrm>
        </p:spPr>
        <p:txBody>
          <a:bodyPr>
            <a:normAutofit/>
          </a:bodyPr>
          <a:lstStyle/>
          <a:p>
            <a:r>
              <a:rPr lang="pt-BR" sz="2600" dirty="0">
                <a:solidFill>
                  <a:srgbClr val="405122"/>
                </a:solidFill>
                <a:latin typeface="ITC Avant Garde Pro Md" panose="020B0602020202020204" pitchFamily="34" charset="0"/>
              </a:rPr>
              <a:t>BERGI ADVOCACIA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387273" y="3371010"/>
            <a:ext cx="6899563" cy="278040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50"/>
              </a:spcAft>
              <a:buNone/>
            </a:pPr>
            <a:r>
              <a:rPr lang="pt-BR" sz="1600" dirty="0">
                <a:solidFill>
                  <a:srgbClr val="405122"/>
                </a:solidFill>
                <a:latin typeface="ITC Avant Garde Pro Bk" panose="020B0502020202020204" pitchFamily="34" charset="0"/>
              </a:rPr>
              <a:t>Há mais de 40 anos deixamos nossa marca em importantes áreas do Direito, contribuindo para um cenário mais justo e competitivo. O reconhecimento nacional de teses tributárias exitosas legitimou nosso trabalho enquanto escritório de advocacia e oportunizou nossa atuação em segmentos como Administrativo, Constitucional, Societário, Aduaneiro, </a:t>
            </a:r>
            <a:r>
              <a:rPr lang="pt-BR" sz="1600" dirty="0" err="1">
                <a:solidFill>
                  <a:srgbClr val="405122"/>
                </a:solidFill>
                <a:latin typeface="ITC Avant Garde Pro Bk" panose="020B0502020202020204" pitchFamily="34" charset="0"/>
              </a:rPr>
              <a:t>Compliance</a:t>
            </a:r>
            <a:r>
              <a:rPr lang="pt-BR" sz="1600" dirty="0">
                <a:solidFill>
                  <a:srgbClr val="405122"/>
                </a:solidFill>
                <a:latin typeface="ITC Avant Garde Pro Bk" panose="020B0502020202020204" pitchFamily="34" charset="0"/>
              </a:rPr>
              <a:t>, Imobiliário entre outros.</a:t>
            </a:r>
          </a:p>
        </p:txBody>
      </p:sp>
      <p:sp>
        <p:nvSpPr>
          <p:cNvPr id="4" name="Espaço Reservado para Conteúdo 2"/>
          <p:cNvSpPr txBox="1">
            <a:spLocks/>
          </p:cNvSpPr>
          <p:nvPr/>
        </p:nvSpPr>
        <p:spPr>
          <a:xfrm>
            <a:off x="4387273" y="2615504"/>
            <a:ext cx="7296727" cy="690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300" dirty="0">
                <a:solidFill>
                  <a:srgbClr val="405122"/>
                </a:solidFill>
                <a:latin typeface="ITC Avant Garde Pro Bk" panose="020B0502020202020204" pitchFamily="34" charset="0"/>
              </a:rPr>
              <a:t>Independente. Multidisciplinar. Completo.</a:t>
            </a:r>
          </a:p>
        </p:txBody>
      </p:sp>
      <p:sp>
        <p:nvSpPr>
          <p:cNvPr id="6" name="Retângulo 5"/>
          <p:cNvSpPr/>
          <p:nvPr/>
        </p:nvSpPr>
        <p:spPr>
          <a:xfrm>
            <a:off x="1062182" y="1819561"/>
            <a:ext cx="2632363" cy="2632363"/>
          </a:xfrm>
          <a:prstGeom prst="rect">
            <a:avLst/>
          </a:prstGeom>
          <a:solidFill>
            <a:srgbClr val="40512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405122"/>
              </a:solidFill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900546" y="1644605"/>
            <a:ext cx="2632363" cy="2632363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405122"/>
              </a:solidFill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7767" y="546922"/>
            <a:ext cx="779069" cy="89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13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62181" y="1134772"/>
            <a:ext cx="10151807" cy="761711"/>
          </a:xfrm>
        </p:spPr>
        <p:txBody>
          <a:bodyPr>
            <a:normAutofit/>
          </a:bodyPr>
          <a:lstStyle/>
          <a:p>
            <a:r>
              <a:rPr lang="pt-BR" sz="2600" dirty="0">
                <a:solidFill>
                  <a:srgbClr val="405122"/>
                </a:solidFill>
                <a:latin typeface="ITC Avant Garde Pro Md" panose="020B0602020202020204" pitchFamily="34" charset="0"/>
              </a:rPr>
              <a:t>ATUAÇÃO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62183" y="3332710"/>
            <a:ext cx="3842326" cy="321451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50"/>
              </a:spcAft>
            </a:pPr>
            <a:r>
              <a:rPr lang="pt-BR" sz="1500" dirty="0">
                <a:solidFill>
                  <a:srgbClr val="405122"/>
                </a:solidFill>
                <a:latin typeface="ITC Avant Garde Pro Bk" panose="020B0502020202020204" pitchFamily="34" charset="0"/>
              </a:rPr>
              <a:t>Aduaneiro e Comércio Exterior</a:t>
            </a:r>
          </a:p>
          <a:p>
            <a:pPr>
              <a:lnSpc>
                <a:spcPct val="100000"/>
              </a:lnSpc>
              <a:spcAft>
                <a:spcPts val="50"/>
              </a:spcAft>
            </a:pPr>
            <a:r>
              <a:rPr lang="pt-BR" sz="1500" dirty="0">
                <a:solidFill>
                  <a:srgbClr val="405122"/>
                </a:solidFill>
                <a:latin typeface="ITC Avant Garde Pro Bk" panose="020B0502020202020204" pitchFamily="34" charset="0"/>
              </a:rPr>
              <a:t>Agronegócio</a:t>
            </a:r>
          </a:p>
          <a:p>
            <a:pPr>
              <a:lnSpc>
                <a:spcPct val="100000"/>
              </a:lnSpc>
              <a:spcAft>
                <a:spcPts val="50"/>
              </a:spcAft>
            </a:pPr>
            <a:r>
              <a:rPr lang="pt-BR" sz="1500" dirty="0">
                <a:solidFill>
                  <a:srgbClr val="405122"/>
                </a:solidFill>
                <a:latin typeface="ITC Avant Garde Pro Bk" panose="020B0502020202020204" pitchFamily="34" charset="0"/>
              </a:rPr>
              <a:t>Ambiental</a:t>
            </a:r>
          </a:p>
          <a:p>
            <a:pPr>
              <a:lnSpc>
                <a:spcPct val="100000"/>
              </a:lnSpc>
              <a:spcAft>
                <a:spcPts val="50"/>
              </a:spcAft>
            </a:pPr>
            <a:r>
              <a:rPr lang="pt-BR" sz="1500" dirty="0">
                <a:solidFill>
                  <a:srgbClr val="405122"/>
                </a:solidFill>
                <a:latin typeface="ITC Avant Garde Pro Bk" panose="020B0502020202020204" pitchFamily="34" charset="0"/>
              </a:rPr>
              <a:t>Civil</a:t>
            </a:r>
          </a:p>
          <a:p>
            <a:pPr>
              <a:lnSpc>
                <a:spcPct val="100000"/>
              </a:lnSpc>
              <a:spcAft>
                <a:spcPts val="50"/>
              </a:spcAft>
            </a:pPr>
            <a:r>
              <a:rPr lang="pt-BR" sz="1500" dirty="0" err="1">
                <a:solidFill>
                  <a:srgbClr val="405122"/>
                </a:solidFill>
                <a:latin typeface="ITC Avant Garde Pro Bk" panose="020B0502020202020204" pitchFamily="34" charset="0"/>
              </a:rPr>
              <a:t>Compliance</a:t>
            </a:r>
            <a:endParaRPr lang="pt-BR" sz="1500" dirty="0">
              <a:solidFill>
                <a:srgbClr val="405122"/>
              </a:solidFill>
              <a:latin typeface="ITC Avant Garde Pro Bk" panose="020B0502020202020204" pitchFamily="34" charset="0"/>
            </a:endParaRPr>
          </a:p>
          <a:p>
            <a:pPr>
              <a:lnSpc>
                <a:spcPct val="100000"/>
              </a:lnSpc>
              <a:spcAft>
                <a:spcPts val="50"/>
              </a:spcAft>
            </a:pPr>
            <a:r>
              <a:rPr lang="pt-BR" sz="1500" dirty="0">
                <a:solidFill>
                  <a:srgbClr val="405122"/>
                </a:solidFill>
                <a:latin typeface="ITC Avant Garde Pro Bk" panose="020B0502020202020204" pitchFamily="34" charset="0"/>
              </a:rPr>
              <a:t>Constitucional</a:t>
            </a:r>
          </a:p>
          <a:p>
            <a:pPr>
              <a:lnSpc>
                <a:spcPct val="100000"/>
              </a:lnSpc>
              <a:spcAft>
                <a:spcPts val="50"/>
              </a:spcAft>
            </a:pPr>
            <a:r>
              <a:rPr lang="pt-BR" sz="1500" dirty="0">
                <a:solidFill>
                  <a:srgbClr val="405122"/>
                </a:solidFill>
                <a:latin typeface="ITC Avant Garde Pro Bk" panose="020B0502020202020204" pitchFamily="34" charset="0"/>
              </a:rPr>
              <a:t>Contratos internacionais</a:t>
            </a:r>
          </a:p>
          <a:p>
            <a:pPr>
              <a:lnSpc>
                <a:spcPct val="100000"/>
              </a:lnSpc>
              <a:spcAft>
                <a:spcPts val="50"/>
              </a:spcAft>
            </a:pPr>
            <a:r>
              <a:rPr lang="pt-BR" sz="1500" dirty="0">
                <a:solidFill>
                  <a:srgbClr val="405122"/>
                </a:solidFill>
                <a:latin typeface="ITC Avant Garde Pro Bk" panose="020B0502020202020204" pitchFamily="34" charset="0"/>
              </a:rPr>
              <a:t>Empresarial</a:t>
            </a:r>
          </a:p>
        </p:txBody>
      </p:sp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1062182" y="2109339"/>
            <a:ext cx="8663709" cy="131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Aft>
                <a:spcPts val="50"/>
              </a:spcAft>
              <a:buNone/>
            </a:pPr>
            <a:r>
              <a:rPr lang="pt-BR" sz="1600" dirty="0">
                <a:solidFill>
                  <a:srgbClr val="405122"/>
                </a:solidFill>
                <a:latin typeface="ITC Avant Garde Pro Bk" panose="020B0502020202020204" pitchFamily="34" charset="0"/>
              </a:rPr>
              <a:t>Nossa atuação em Direito deriva de uma carreira sólida construída sobre resultados exitosos de teses tributárias reconhecidas nacionalmente.</a:t>
            </a:r>
          </a:p>
        </p:txBody>
      </p:sp>
      <p:sp>
        <p:nvSpPr>
          <p:cNvPr id="9" name="Espaço Reservado para Conteúdo 2"/>
          <p:cNvSpPr txBox="1">
            <a:spLocks/>
          </p:cNvSpPr>
          <p:nvPr/>
        </p:nvSpPr>
        <p:spPr>
          <a:xfrm>
            <a:off x="5458692" y="3332710"/>
            <a:ext cx="3842326" cy="3214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50"/>
              </a:spcAft>
            </a:pPr>
            <a:r>
              <a:rPr lang="pt-BR" sz="1500" dirty="0">
                <a:solidFill>
                  <a:srgbClr val="405122"/>
                </a:solidFill>
                <a:latin typeface="ITC Avant Garde Pro Bk" panose="020B0502020202020204" pitchFamily="34" charset="0"/>
              </a:rPr>
              <a:t>Imobiliário estratégico</a:t>
            </a:r>
          </a:p>
          <a:p>
            <a:pPr>
              <a:lnSpc>
                <a:spcPct val="100000"/>
              </a:lnSpc>
              <a:spcAft>
                <a:spcPts val="50"/>
              </a:spcAft>
            </a:pPr>
            <a:r>
              <a:rPr lang="pt-BR" sz="1500" dirty="0">
                <a:solidFill>
                  <a:srgbClr val="405122"/>
                </a:solidFill>
                <a:latin typeface="ITC Avant Garde Pro Bk" panose="020B0502020202020204" pitchFamily="34" charset="0"/>
              </a:rPr>
              <a:t>Marítimo e Portuário</a:t>
            </a:r>
          </a:p>
          <a:p>
            <a:pPr>
              <a:lnSpc>
                <a:spcPct val="100000"/>
              </a:lnSpc>
              <a:spcAft>
                <a:spcPts val="50"/>
              </a:spcAft>
            </a:pPr>
            <a:r>
              <a:rPr lang="pt-BR" sz="1500" dirty="0">
                <a:solidFill>
                  <a:srgbClr val="405122"/>
                </a:solidFill>
                <a:latin typeface="ITC Avant Garde Pro Bk" panose="020B0502020202020204" pitchFamily="34" charset="0"/>
              </a:rPr>
              <a:t>Minerário</a:t>
            </a:r>
          </a:p>
          <a:p>
            <a:pPr>
              <a:lnSpc>
                <a:spcPct val="100000"/>
              </a:lnSpc>
              <a:spcAft>
                <a:spcPts val="50"/>
              </a:spcAft>
            </a:pPr>
            <a:r>
              <a:rPr lang="pt-BR" sz="1500" dirty="0">
                <a:solidFill>
                  <a:srgbClr val="405122"/>
                </a:solidFill>
                <a:latin typeface="ITC Avant Garde Pro Bk" panose="020B0502020202020204" pitchFamily="34" charset="0"/>
              </a:rPr>
              <a:t>Óleo e Gás</a:t>
            </a:r>
          </a:p>
          <a:p>
            <a:pPr>
              <a:lnSpc>
                <a:spcPct val="100000"/>
              </a:lnSpc>
              <a:spcAft>
                <a:spcPts val="50"/>
              </a:spcAft>
            </a:pPr>
            <a:r>
              <a:rPr lang="pt-BR" sz="1500" dirty="0">
                <a:solidFill>
                  <a:srgbClr val="405122"/>
                </a:solidFill>
                <a:latin typeface="ITC Avant Garde Pro Bk" panose="020B0502020202020204" pitchFamily="34" charset="0"/>
              </a:rPr>
              <a:t>Recuperação de créditos</a:t>
            </a:r>
          </a:p>
          <a:p>
            <a:pPr>
              <a:lnSpc>
                <a:spcPct val="100000"/>
              </a:lnSpc>
              <a:spcAft>
                <a:spcPts val="50"/>
              </a:spcAft>
            </a:pPr>
            <a:r>
              <a:rPr lang="pt-BR" sz="1500" dirty="0">
                <a:solidFill>
                  <a:srgbClr val="405122"/>
                </a:solidFill>
                <a:latin typeface="ITC Avant Garde Pro Bk" panose="020B0502020202020204" pitchFamily="34" charset="0"/>
              </a:rPr>
              <a:t>Societário</a:t>
            </a:r>
          </a:p>
          <a:p>
            <a:pPr>
              <a:lnSpc>
                <a:spcPct val="100000"/>
              </a:lnSpc>
              <a:spcAft>
                <a:spcPts val="50"/>
              </a:spcAft>
            </a:pPr>
            <a:r>
              <a:rPr lang="pt-BR" sz="1500" dirty="0">
                <a:solidFill>
                  <a:srgbClr val="405122"/>
                </a:solidFill>
                <a:latin typeface="ITC Avant Garde Pro Bk" panose="020B0502020202020204" pitchFamily="34" charset="0"/>
              </a:rPr>
              <a:t>Tributário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7767" y="546922"/>
            <a:ext cx="779069" cy="89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253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738909" y="5009167"/>
            <a:ext cx="10695709" cy="13131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Aft>
                <a:spcPts val="50"/>
              </a:spcAft>
              <a:buNone/>
            </a:pPr>
            <a:r>
              <a:rPr lang="pt-BR" sz="1000" dirty="0">
                <a:solidFill>
                  <a:srgbClr val="405122"/>
                </a:solidFill>
                <a:latin typeface="ITC Avant Garde Pro Bk" panose="020B0502020202020204" pitchFamily="34" charset="0"/>
              </a:rPr>
              <a:t>1 Master </a:t>
            </a:r>
            <a:r>
              <a:rPr lang="pt-BR" sz="1000" dirty="0" err="1">
                <a:solidFill>
                  <a:srgbClr val="405122"/>
                </a:solidFill>
                <a:latin typeface="ITC Avant Garde Pro Bk" panose="020B0502020202020204" pitchFamily="34" charset="0"/>
              </a:rPr>
              <a:t>of</a:t>
            </a:r>
            <a:r>
              <a:rPr lang="pt-BR" sz="1000" dirty="0">
                <a:solidFill>
                  <a:srgbClr val="405122"/>
                </a:solidFill>
                <a:latin typeface="ITC Avant Garde Pro Bk" panose="020B0502020202020204" pitchFamily="34" charset="0"/>
              </a:rPr>
              <a:t> </a:t>
            </a:r>
            <a:r>
              <a:rPr lang="pt-BR" sz="1000" dirty="0" err="1">
                <a:solidFill>
                  <a:srgbClr val="405122"/>
                </a:solidFill>
                <a:latin typeface="ITC Avant Garde Pro Bk" panose="020B0502020202020204" pitchFamily="34" charset="0"/>
              </a:rPr>
              <a:t>Laws</a:t>
            </a:r>
            <a:r>
              <a:rPr lang="pt-BR" sz="1000" dirty="0">
                <a:solidFill>
                  <a:srgbClr val="405122"/>
                </a:solidFill>
                <a:latin typeface="ITC Avant Garde Pro Bk" panose="020B0502020202020204" pitchFamily="34" charset="0"/>
              </a:rPr>
              <a:t> (LLM) pela </a:t>
            </a:r>
            <a:r>
              <a:rPr lang="pt-BR" sz="1000" dirty="0" err="1">
                <a:solidFill>
                  <a:srgbClr val="405122"/>
                </a:solidFill>
                <a:latin typeface="ITC Avant Garde Pro Bk" panose="020B0502020202020204" pitchFamily="34" charset="0"/>
              </a:rPr>
              <a:t>Northwestern</a:t>
            </a:r>
            <a:r>
              <a:rPr lang="pt-BR" sz="1000" dirty="0">
                <a:solidFill>
                  <a:srgbClr val="405122"/>
                </a:solidFill>
                <a:latin typeface="ITC Avant Garde Pro Bk" panose="020B0502020202020204" pitchFamily="34" charset="0"/>
              </a:rPr>
              <a:t> </a:t>
            </a:r>
            <a:r>
              <a:rPr lang="pt-BR" sz="1000" dirty="0" err="1">
                <a:solidFill>
                  <a:srgbClr val="405122"/>
                </a:solidFill>
                <a:latin typeface="ITC Avant Garde Pro Bk" panose="020B0502020202020204" pitchFamily="34" charset="0"/>
              </a:rPr>
              <a:t>University</a:t>
            </a:r>
            <a:r>
              <a:rPr lang="pt-BR" sz="1000" dirty="0">
                <a:solidFill>
                  <a:srgbClr val="405122"/>
                </a:solidFill>
                <a:latin typeface="ITC Avant Garde Pro Bk" panose="020B0502020202020204" pitchFamily="34" charset="0"/>
              </a:rPr>
              <a:t>, Chicago, EUA (2002). Conselheiro Seccional da OAB/ES (2010-2012). Atua na área de Direito Tributário e Societário. Especialista em Direito Tributário pela PUC/SP (1996). 2 Doutor e Mestre em Direito Internacional e Pós-graduado em Direito Marítimo, Portuário e Aduaneiro pela PUC - Santos, Pós-graduado em Direito Tributário pela FGV – Fundação Getúlio Vargas. Professor de Direito Aduaneiro da Pós-Graduação em Direito Marítimo, Portuário e do Petróleo da Faculdade Mauricio de Nassau, Recife/PE (FMN). Professor da Pós-graduação em Direito Marítimo, Portuário e Aduaneiro da PUC - Santos e da Faculdade de Direito de Vitória – FDV, Vitória – ES. Vice-Presidente da Comissão de Direito Marítimo, Portuário e Aduaneiro da OAB/ES.</a:t>
            </a:r>
          </a:p>
        </p:txBody>
      </p:sp>
      <p:sp>
        <p:nvSpPr>
          <p:cNvPr id="10" name="Retângulo 9"/>
          <p:cNvSpPr/>
          <p:nvPr/>
        </p:nvSpPr>
        <p:spPr>
          <a:xfrm>
            <a:off x="-27708" y="6733309"/>
            <a:ext cx="12256655" cy="124691"/>
          </a:xfrm>
          <a:prstGeom prst="rect">
            <a:avLst/>
          </a:prstGeom>
          <a:solidFill>
            <a:srgbClr val="646C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9733" y="1729253"/>
            <a:ext cx="1532534" cy="181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18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1062183" y="2410691"/>
            <a:ext cx="3500582" cy="39027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50"/>
              </a:spcAft>
              <a:buNone/>
            </a:pPr>
            <a:r>
              <a:rPr lang="pt-BR" sz="1000" dirty="0">
                <a:solidFill>
                  <a:schemeClr val="bg1"/>
                </a:solidFill>
                <a:latin typeface="ITC Avant Garde Pro Bk" panose="020B0502020202020204" pitchFamily="34" charset="0"/>
              </a:rPr>
              <a:t>José Osvaldo </a:t>
            </a:r>
            <a:r>
              <a:rPr lang="pt-BR" sz="1000" dirty="0" err="1">
                <a:solidFill>
                  <a:schemeClr val="bg1"/>
                </a:solidFill>
                <a:latin typeface="ITC Avant Garde Pro Bk" panose="020B0502020202020204" pitchFamily="34" charset="0"/>
              </a:rPr>
              <a:t>Bergi</a:t>
            </a:r>
            <a:r>
              <a:rPr lang="pt-BR" sz="1000" dirty="0">
                <a:solidFill>
                  <a:schemeClr val="bg1"/>
                </a:solidFill>
                <a:latin typeface="ITC Avant Garde Pro Bk" panose="020B0502020202020204" pitchFamily="34" charset="0"/>
              </a:rPr>
              <a:t> †</a:t>
            </a:r>
          </a:p>
          <a:p>
            <a:pPr marL="0" indent="0">
              <a:lnSpc>
                <a:spcPct val="100000"/>
              </a:lnSpc>
              <a:spcAft>
                <a:spcPts val="50"/>
              </a:spcAft>
              <a:buNone/>
            </a:pPr>
            <a:r>
              <a:rPr lang="pt-BR" sz="1000" dirty="0">
                <a:solidFill>
                  <a:schemeClr val="bg1"/>
                </a:solidFill>
                <a:latin typeface="ITC Avant Garde Pro Bk" panose="020B0502020202020204" pitchFamily="34" charset="0"/>
              </a:rPr>
              <a:t>Marcio </a:t>
            </a:r>
            <a:r>
              <a:rPr lang="pt-BR" sz="1000" dirty="0" err="1">
                <a:solidFill>
                  <a:schemeClr val="bg1"/>
                </a:solidFill>
                <a:latin typeface="ITC Avant Garde Pro Bk" panose="020B0502020202020204" pitchFamily="34" charset="0"/>
              </a:rPr>
              <a:t>Brotto</a:t>
            </a:r>
            <a:r>
              <a:rPr lang="pt-BR" sz="1000" dirty="0">
                <a:solidFill>
                  <a:schemeClr val="bg1"/>
                </a:solidFill>
                <a:latin typeface="ITC Avant Garde Pro Bk" panose="020B0502020202020204" pitchFamily="34" charset="0"/>
              </a:rPr>
              <a:t> de Barros</a:t>
            </a:r>
          </a:p>
          <a:p>
            <a:pPr marL="0" indent="0">
              <a:lnSpc>
                <a:spcPct val="100000"/>
              </a:lnSpc>
              <a:spcAft>
                <a:spcPts val="50"/>
              </a:spcAft>
              <a:buNone/>
            </a:pPr>
            <a:r>
              <a:rPr lang="pt-BR" sz="1000" dirty="0">
                <a:solidFill>
                  <a:schemeClr val="bg1"/>
                </a:solidFill>
                <a:latin typeface="ITC Avant Garde Pro Bk" panose="020B0502020202020204" pitchFamily="34" charset="0"/>
              </a:rPr>
              <a:t>Maria Terezinha </a:t>
            </a:r>
            <a:r>
              <a:rPr lang="pt-BR" sz="1000" dirty="0" err="1">
                <a:solidFill>
                  <a:schemeClr val="bg1"/>
                </a:solidFill>
                <a:latin typeface="ITC Avant Garde Pro Bk" panose="020B0502020202020204" pitchFamily="34" charset="0"/>
              </a:rPr>
              <a:t>Bergi</a:t>
            </a:r>
            <a:endParaRPr lang="pt-BR" sz="1000" dirty="0">
              <a:solidFill>
                <a:schemeClr val="bg1"/>
              </a:solidFill>
              <a:latin typeface="ITC Avant Garde Pro Bk" panose="020B0502020202020204" pitchFamily="34" charset="0"/>
            </a:endParaRPr>
          </a:p>
          <a:p>
            <a:pPr marL="0" indent="0">
              <a:lnSpc>
                <a:spcPct val="100000"/>
              </a:lnSpc>
              <a:spcAft>
                <a:spcPts val="50"/>
              </a:spcAft>
              <a:buNone/>
            </a:pPr>
            <a:r>
              <a:rPr lang="pt-BR" sz="1000" dirty="0" err="1">
                <a:solidFill>
                  <a:schemeClr val="bg1"/>
                </a:solidFill>
                <a:latin typeface="ITC Avant Garde Pro Bk" panose="020B0502020202020204" pitchFamily="34" charset="0"/>
              </a:rPr>
              <a:t>Alvimar</a:t>
            </a:r>
            <a:r>
              <a:rPr lang="pt-BR" sz="1000" dirty="0">
                <a:solidFill>
                  <a:schemeClr val="bg1"/>
                </a:solidFill>
                <a:latin typeface="ITC Avant Garde Pro Bk" panose="020B0502020202020204" pitchFamily="34" charset="0"/>
              </a:rPr>
              <a:t> Carlos Alves de Souza</a:t>
            </a:r>
          </a:p>
          <a:p>
            <a:pPr marL="0" indent="0">
              <a:lnSpc>
                <a:spcPct val="100000"/>
              </a:lnSpc>
              <a:spcAft>
                <a:spcPts val="50"/>
              </a:spcAft>
              <a:buNone/>
            </a:pPr>
            <a:r>
              <a:rPr lang="pt-BR" sz="1000" dirty="0">
                <a:solidFill>
                  <a:schemeClr val="bg1"/>
                </a:solidFill>
                <a:latin typeface="ITC Avant Garde Pro Bk" panose="020B0502020202020204" pitchFamily="34" charset="0"/>
              </a:rPr>
              <a:t>Pedro Henrique C. Queiroga</a:t>
            </a:r>
          </a:p>
          <a:p>
            <a:pPr marL="0" indent="0">
              <a:lnSpc>
                <a:spcPct val="100000"/>
              </a:lnSpc>
              <a:spcAft>
                <a:spcPts val="50"/>
              </a:spcAft>
              <a:buNone/>
            </a:pPr>
            <a:r>
              <a:rPr lang="pt-BR" sz="1000" dirty="0">
                <a:solidFill>
                  <a:schemeClr val="bg1"/>
                </a:solidFill>
                <a:latin typeface="ITC Avant Garde Pro Bk" panose="020B0502020202020204" pitchFamily="34" charset="0"/>
              </a:rPr>
              <a:t>Marcelo Melo Rodrigues</a:t>
            </a:r>
          </a:p>
          <a:p>
            <a:pPr marL="0" indent="0">
              <a:lnSpc>
                <a:spcPct val="100000"/>
              </a:lnSpc>
              <a:spcAft>
                <a:spcPts val="50"/>
              </a:spcAft>
              <a:buNone/>
            </a:pPr>
            <a:r>
              <a:rPr lang="pt-BR" sz="1000" dirty="0">
                <a:solidFill>
                  <a:schemeClr val="bg1"/>
                </a:solidFill>
                <a:latin typeface="ITC Avant Garde Pro Bk" panose="020B0502020202020204" pitchFamily="34" charset="0"/>
              </a:rPr>
              <a:t>Lara Diaz Leal Gimenes</a:t>
            </a:r>
          </a:p>
          <a:p>
            <a:pPr marL="0" indent="0">
              <a:lnSpc>
                <a:spcPct val="100000"/>
              </a:lnSpc>
              <a:spcAft>
                <a:spcPts val="50"/>
              </a:spcAft>
              <a:buNone/>
            </a:pPr>
            <a:r>
              <a:rPr lang="pt-BR" sz="1000" dirty="0">
                <a:solidFill>
                  <a:schemeClr val="bg1"/>
                </a:solidFill>
                <a:latin typeface="ITC Avant Garde Pro Bk" panose="020B0502020202020204" pitchFamily="34" charset="0"/>
              </a:rPr>
              <a:t>Bruno Barcellos Pereira</a:t>
            </a:r>
          </a:p>
        </p:txBody>
      </p:sp>
      <p:sp>
        <p:nvSpPr>
          <p:cNvPr id="11" name="Espaço Reservado para Conteúdo 2"/>
          <p:cNvSpPr txBox="1">
            <a:spLocks/>
          </p:cNvSpPr>
          <p:nvPr/>
        </p:nvSpPr>
        <p:spPr>
          <a:xfrm>
            <a:off x="7601530" y="2410691"/>
            <a:ext cx="3500582" cy="9882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50"/>
              </a:spcAft>
              <a:buNone/>
            </a:pPr>
            <a:r>
              <a:rPr lang="pt-BR" sz="1000" dirty="0">
                <a:solidFill>
                  <a:schemeClr val="bg1"/>
                </a:solidFill>
                <a:latin typeface="ITC Avant Garde Pro Bk" panose="020B0502020202020204" pitchFamily="34" charset="0"/>
              </a:rPr>
              <a:t>Rua Professor Almeida </a:t>
            </a:r>
            <a:r>
              <a:rPr lang="pt-BR" sz="1000" dirty="0" err="1">
                <a:solidFill>
                  <a:schemeClr val="bg1"/>
                </a:solidFill>
                <a:latin typeface="ITC Avant Garde Pro Bk" panose="020B0502020202020204" pitchFamily="34" charset="0"/>
              </a:rPr>
              <a:t>Cousin</a:t>
            </a:r>
            <a:endParaRPr lang="pt-BR" sz="1000" dirty="0">
              <a:solidFill>
                <a:schemeClr val="bg1"/>
              </a:solidFill>
              <a:latin typeface="ITC Avant Garde Pro Bk" panose="020B0502020202020204" pitchFamily="34" charset="0"/>
            </a:endParaRPr>
          </a:p>
          <a:p>
            <a:pPr marL="0" indent="0" algn="r">
              <a:lnSpc>
                <a:spcPct val="100000"/>
              </a:lnSpc>
              <a:spcAft>
                <a:spcPts val="50"/>
              </a:spcAft>
              <a:buNone/>
            </a:pPr>
            <a:r>
              <a:rPr lang="pt-BR" sz="1000">
                <a:solidFill>
                  <a:schemeClr val="bg1"/>
                </a:solidFill>
                <a:latin typeface="ITC Avant Garde Pro Bk" panose="020B0502020202020204" pitchFamily="34" charset="0"/>
              </a:rPr>
              <a:t>Nº 125  </a:t>
            </a:r>
            <a:r>
              <a:rPr lang="pt-BR" sz="1000" dirty="0">
                <a:solidFill>
                  <a:schemeClr val="bg1"/>
                </a:solidFill>
                <a:latin typeface="ITC Avant Garde Pro Bk" panose="020B0502020202020204" pitchFamily="34" charset="0"/>
              </a:rPr>
              <a:t>| 19ºA | Enseada do </a:t>
            </a:r>
            <a:r>
              <a:rPr lang="pt-BR" sz="1000" dirty="0" err="1">
                <a:solidFill>
                  <a:schemeClr val="bg1"/>
                </a:solidFill>
                <a:latin typeface="ITC Avant Garde Pro Bk" panose="020B0502020202020204" pitchFamily="34" charset="0"/>
              </a:rPr>
              <a:t>Suá</a:t>
            </a:r>
            <a:endParaRPr lang="pt-BR" sz="1000" dirty="0">
              <a:solidFill>
                <a:schemeClr val="bg1"/>
              </a:solidFill>
              <a:latin typeface="ITC Avant Garde Pro Bk" panose="020B0502020202020204" pitchFamily="34" charset="0"/>
            </a:endParaRPr>
          </a:p>
          <a:p>
            <a:pPr marL="0" indent="0" algn="r">
              <a:lnSpc>
                <a:spcPct val="100000"/>
              </a:lnSpc>
              <a:spcAft>
                <a:spcPts val="50"/>
              </a:spcAft>
              <a:buNone/>
            </a:pPr>
            <a:r>
              <a:rPr lang="pt-BR" sz="1000" dirty="0">
                <a:solidFill>
                  <a:schemeClr val="bg1"/>
                </a:solidFill>
                <a:latin typeface="ITC Avant Garde Pro Bk" panose="020B0502020202020204" pitchFamily="34" charset="0"/>
              </a:rPr>
              <a:t>Vitória, ES | 29050-565</a:t>
            </a:r>
          </a:p>
          <a:p>
            <a:pPr marL="0" indent="0" algn="r">
              <a:lnSpc>
                <a:spcPct val="100000"/>
              </a:lnSpc>
              <a:spcAft>
                <a:spcPts val="50"/>
              </a:spcAft>
              <a:buNone/>
            </a:pPr>
            <a:endParaRPr lang="pt-BR" sz="1000" dirty="0">
              <a:solidFill>
                <a:schemeClr val="bg1"/>
              </a:solidFill>
              <a:latin typeface="ITC Avant Garde Pro Bk" panose="020B0502020202020204" pitchFamily="34" charset="0"/>
            </a:endParaRPr>
          </a:p>
        </p:txBody>
      </p:sp>
      <p:sp>
        <p:nvSpPr>
          <p:cNvPr id="12" name="Espaço Reservado para Conteúdo 2"/>
          <p:cNvSpPr txBox="1">
            <a:spLocks/>
          </p:cNvSpPr>
          <p:nvPr/>
        </p:nvSpPr>
        <p:spPr>
          <a:xfrm>
            <a:off x="7167423" y="3715229"/>
            <a:ext cx="3500582" cy="9882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50"/>
              </a:spcAft>
              <a:buNone/>
            </a:pPr>
            <a:r>
              <a:rPr lang="pt-BR" sz="1000" dirty="0">
                <a:solidFill>
                  <a:schemeClr val="bg1"/>
                </a:solidFill>
                <a:latin typeface="ITC Avant Garde Pro Bk" panose="020B0502020202020204" pitchFamily="34" charset="0"/>
              </a:rPr>
              <a:t>(27) 2123.7688</a:t>
            </a:r>
          </a:p>
          <a:p>
            <a:pPr marL="0" indent="0" algn="r">
              <a:lnSpc>
                <a:spcPct val="100000"/>
              </a:lnSpc>
              <a:spcAft>
                <a:spcPts val="50"/>
              </a:spcAft>
              <a:buNone/>
            </a:pPr>
            <a:r>
              <a:rPr lang="pt-BR" sz="1000" dirty="0">
                <a:solidFill>
                  <a:schemeClr val="bg1"/>
                </a:solidFill>
                <a:latin typeface="ITC Avant Garde Pro Bk" panose="020B0502020202020204" pitchFamily="34" charset="0"/>
              </a:rPr>
              <a:t>bergi@bergi.adv.br</a:t>
            </a:r>
          </a:p>
          <a:p>
            <a:pPr marL="0" indent="0" algn="r">
              <a:lnSpc>
                <a:spcPct val="100000"/>
              </a:lnSpc>
              <a:spcAft>
                <a:spcPts val="50"/>
              </a:spcAft>
              <a:buNone/>
            </a:pPr>
            <a:r>
              <a:rPr lang="pt-BR" sz="1000" dirty="0">
                <a:solidFill>
                  <a:schemeClr val="bg1"/>
                </a:solidFill>
                <a:latin typeface="ITC Avant Garde Pro Bk" panose="020B0502020202020204" pitchFamily="34" charset="0"/>
              </a:rPr>
              <a:t>www.bergi.adv.br </a:t>
            </a:r>
          </a:p>
        </p:txBody>
      </p:sp>
      <p:sp>
        <p:nvSpPr>
          <p:cNvPr id="13" name="Espaço Reservado para Conteúdo 2"/>
          <p:cNvSpPr txBox="1">
            <a:spLocks/>
          </p:cNvSpPr>
          <p:nvPr/>
        </p:nvSpPr>
        <p:spPr>
          <a:xfrm>
            <a:off x="7601530" y="5015734"/>
            <a:ext cx="3500582" cy="9882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50"/>
              </a:spcAft>
              <a:buNone/>
            </a:pPr>
            <a:endParaRPr lang="pt-BR" sz="1000" dirty="0">
              <a:solidFill>
                <a:schemeClr val="bg1"/>
              </a:solidFill>
              <a:latin typeface="ITC Avant Garde Pro Bk" panose="020B0502020202020204" pitchFamily="34" charset="0"/>
            </a:endParaRPr>
          </a:p>
        </p:txBody>
      </p:sp>
      <p:pic>
        <p:nvPicPr>
          <p:cNvPr id="22" name="Imagem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631" y="3951332"/>
            <a:ext cx="314417" cy="312413"/>
          </a:xfrm>
          <a:prstGeom prst="rect">
            <a:avLst/>
          </a:prstGeom>
        </p:spPr>
      </p:pic>
      <p:pic>
        <p:nvPicPr>
          <p:cNvPr id="23" name="Imagem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631" y="3642184"/>
            <a:ext cx="314417" cy="314417"/>
          </a:xfrm>
          <a:prstGeom prst="rect">
            <a:avLst/>
          </a:prstGeom>
        </p:spPr>
      </p:pic>
      <p:pic>
        <p:nvPicPr>
          <p:cNvPr id="24" name="Imagem 2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631" y="4258476"/>
            <a:ext cx="314417" cy="314417"/>
          </a:xfrm>
          <a:prstGeom prst="rect">
            <a:avLst/>
          </a:prstGeom>
        </p:spPr>
      </p:pic>
      <p:cxnSp>
        <p:nvCxnSpPr>
          <p:cNvPr id="26" name="Conector reto 25"/>
          <p:cNvCxnSpPr/>
          <p:nvPr/>
        </p:nvCxnSpPr>
        <p:spPr>
          <a:xfrm>
            <a:off x="10732657" y="3687521"/>
            <a:ext cx="0" cy="85766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7976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325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ITC Avant Garde Pro Bk</vt:lpstr>
      <vt:lpstr>ITC Avant Garde Pro Md</vt:lpstr>
      <vt:lpstr>Tema do Office</vt:lpstr>
      <vt:lpstr>Apresentação do PowerPoint</vt:lpstr>
      <vt:lpstr>BERGI ADVOCACIA</vt:lpstr>
      <vt:lpstr>ATUAÇÃO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Marta Anaya</dc:creator>
  <cp:lastModifiedBy>Marcelo Melo Rodrigues</cp:lastModifiedBy>
  <cp:revision>8</cp:revision>
  <dcterms:created xsi:type="dcterms:W3CDTF">2020-05-15T17:05:09Z</dcterms:created>
  <dcterms:modified xsi:type="dcterms:W3CDTF">2026-01-08T17:21:51Z</dcterms:modified>
</cp:coreProperties>
</file>